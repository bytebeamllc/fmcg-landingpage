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7008" y="1752749"/>
            <a:ext cx="3489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REGULATORY OPERATIONS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005743" y="2078385"/>
            <a:ext cx="513236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Bytebeam for</a:t>
            </a:r>
            <a:endParaRPr lang="en-US" sz="3150" dirty="0"/>
          </a:p>
          <a:p>
            <a:pPr algn="ctr" indent="0" marL="0">
              <a:lnSpc>
                <a:spcPts val="378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 Regulatory Affairs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442790" y="3190726"/>
            <a:ext cx="4258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 Compliance. Automate Documentation. Scale Globally.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6237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Complexity Is Crushing Teams</a:t>
            </a:r>
            <a:endParaRPr lang="en-US" sz="2400" dirty="0"/>
          </a:p>
        </p:txBody>
      </p:sp>
      <p:pic>
        <p:nvPicPr>
          <p:cNvPr id="4" name="Image 0" descr="/tmp/rasterized-gradient-059f98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99096"/>
            <a:ext cx="2692450" cy="1068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7087" y="1270546"/>
            <a:ext cx="7002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190+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00685" y="1849636"/>
            <a:ext cx="18530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Country-specific regulatory frameworks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206800" y="1080046"/>
            <a:ext cx="2730550" cy="1106686"/>
          </a:xfrm>
          <a:prstGeom prst="roundRect">
            <a:avLst>
              <a:gd name="adj" fmla="val 8607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60951" y="1270546"/>
            <a:ext cx="62224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26559" y="1849636"/>
            <a:ext cx="18910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spent on manual document review</a:t>
            </a:r>
            <a:endParaRPr lang="en-US" sz="825" dirty="0"/>
          </a:p>
        </p:txBody>
      </p:sp>
      <p:pic>
        <p:nvPicPr>
          <p:cNvPr id="10" name="Image 1" descr="/tmp/rasterized-gradient-464905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99" y="1099096"/>
            <a:ext cx="2692450" cy="1068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02118" y="1270546"/>
            <a:ext cx="8296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$2.6B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586173" y="1849636"/>
            <a:ext cx="1661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cost of delayed market launch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381000" y="2320082"/>
            <a:ext cx="2705100" cy="2632918"/>
          </a:xfrm>
          <a:prstGeom prst="roundRect">
            <a:avLst>
              <a:gd name="adj" fmla="val 361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33400" y="2472482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Burden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533400" y="2721918"/>
            <a:ext cx="2448306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 variations, SmPCs, PILs across dozens of markets. Every update triggers cascading changes across product lines.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3219450" y="2320082"/>
            <a:ext cx="2705100" cy="2632918"/>
          </a:xfrm>
          <a:prstGeom prst="roundRect">
            <a:avLst>
              <a:gd name="adj" fmla="val 361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371850" y="2472482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Fragmentation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3371850" y="2721918"/>
            <a:ext cx="2448306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FDA, EMA, MHRA, TGA requirements scattered across systems. Gap analysis is manual, error-prone, and slow.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6057900" y="2320082"/>
            <a:ext cx="2705100" cy="2632918"/>
          </a:xfrm>
          <a:prstGeom prst="roundRect">
            <a:avLst>
              <a:gd name="adj" fmla="val 361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10300" y="2472482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Intelligence Gap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6210300" y="2721918"/>
            <a:ext cx="2448306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data, market access insights, and competitor filings buried in unstructured documents and databases.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NO-CODE AI AGENTS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58584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Agents Like You Build Spreadsheets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407021"/>
            <a:ext cx="3924300" cy="1089422"/>
          </a:xfrm>
          <a:prstGeom prst="roundRect">
            <a:avLst>
              <a:gd name="adj" fmla="val 874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9421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Familiar Interface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841302"/>
            <a:ext cx="3691890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columns for what to extract AND what actions to take. Generate content, translate, route, validate—all configured in a spreadsheet interface your team already knows.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610743"/>
            <a:ext cx="3924300" cy="959941"/>
          </a:xfrm>
          <a:prstGeom prst="roundRect">
            <a:avLst>
              <a:gd name="adj" fmla="val 9922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782193"/>
            <a:ext cx="36530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Owns the Workflow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2450" y="3064073"/>
            <a:ext cx="365302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teams configure and update agents directly. No IT bottleneck. No consultant dependency. Change a rule? Edit a cell.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684984"/>
            <a:ext cx="3924300" cy="921841"/>
          </a:xfrm>
          <a:prstGeom prst="roundRect">
            <a:avLst>
              <a:gd name="adj" fmla="val 1033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837384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400" y="4119265"/>
            <a:ext cx="369189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exactly where the agent went wrong. Trace every extraction back to source. Fix hallucinations in seconds—not days.</a:t>
            </a:r>
            <a:endParaRPr lang="en-US" sz="825" dirty="0"/>
          </a:p>
        </p:txBody>
      </p:sp>
      <p:pic>
        <p:nvPicPr>
          <p:cNvPr id="13" name="Image 0" descr="/tmp/rasterized-gradient-bdfdfd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0" y="1996380"/>
            <a:ext cx="4305300" cy="20210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48200" y="218688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648200" y="24934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22614" y="2527697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72050" y="2534394"/>
            <a:ext cx="2215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columns = What to extract + What to do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48200" y="281731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22614" y="2851547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72050" y="2858244"/>
            <a:ext cx="23733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documents = Rows populate automatically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48200" y="314116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22614" y="3175397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72050" y="3182094"/>
            <a:ext cx="2278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trace, refine = Continuous improvement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48200" y="3503116"/>
            <a:ext cx="3924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06112" y="3598366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Audit-ready outputs with full provenance for GxP compliance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53532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for Regulatory Excellence</a:t>
            </a:r>
            <a:endParaRPr lang="en-US" sz="2400" dirty="0"/>
          </a:p>
        </p:txBody>
      </p:sp>
      <p:pic>
        <p:nvPicPr>
          <p:cNvPr id="4" name="Image 0" descr="/tmp/rasterized-gradient-afcb41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64246"/>
            <a:ext cx="2692450" cy="19044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2254746"/>
            <a:ext cx="2357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2608957"/>
            <a:ext cx="2357679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Purpose-built agents that automate regulatory workflows: leaflet generation, gap analysis, content authoring, and competitive intelligence.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3454301"/>
            <a:ext cx="2311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" y="3549551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multi-market variations automatically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06800" y="2045196"/>
            <a:ext cx="2730550" cy="1942505"/>
          </a:xfrm>
          <a:prstGeom prst="roundRect">
            <a:avLst>
              <a:gd name="adj" fmla="val 4903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16350" y="2254746"/>
            <a:ext cx="2357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Hubs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416350" y="2608957"/>
            <a:ext cx="2357679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regulatory intelligence: country requirements, pricing databases, compliance templates, and proprietary research—all searchable by AI.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16350" y="3454301"/>
            <a:ext cx="231145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11600" y="3549551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Knowledge technology for instant retrieval</a:t>
            </a:r>
            <a:endParaRPr lang="en-US" sz="750" dirty="0"/>
          </a:p>
        </p:txBody>
      </p:sp>
      <p:pic>
        <p:nvPicPr>
          <p:cNvPr id="14" name="Image 1" descr="/tmp/rasterized-gradient-25020b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99" y="2064246"/>
            <a:ext cx="2692450" cy="19044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1199" y="2254746"/>
            <a:ext cx="2357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261199" y="2608957"/>
            <a:ext cx="2357679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your existing systems—document management, databases, cloud storage, or custom workflows. Outputs flow directly where you need them.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61199" y="3454301"/>
            <a:ext cx="2311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356449" y="3549551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API-first architecture for enterprise systems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56058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Purpose-Built for Regulatory Operations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850827"/>
            <a:ext cx="2717750" cy="925711"/>
          </a:xfrm>
          <a:prstGeom prst="roundRect">
            <a:avLst>
              <a:gd name="adj" fmla="val 823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984177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 Generation Agent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14350" y="2214563"/>
            <a:ext cx="25000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 PILs, SmPCs, and package inserts from source data. Multi-language, multi-market variations in minutes.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13050" y="1850827"/>
            <a:ext cx="2717750" cy="925711"/>
          </a:xfrm>
          <a:prstGeom prst="roundRect">
            <a:avLst>
              <a:gd name="adj" fmla="val 823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46400" y="1984177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Analysis Agent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46400" y="2214563"/>
            <a:ext cx="25000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existing dossiers against new regulatory requirements. Flag deviations and suggest remediation actions.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45101" y="1922264"/>
            <a:ext cx="2717750" cy="782836"/>
          </a:xfrm>
          <a:prstGeom prst="roundRect">
            <a:avLst>
              <a:gd name="adj" fmla="val 973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8451" y="2055614"/>
            <a:ext cx="2500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Review Agent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178451" y="2286000"/>
            <a:ext cx="25000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QC checks against FDA, EMA, MHRA guidelines. Catch compliance issues before submission.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871788"/>
            <a:ext cx="2717750" cy="820936"/>
          </a:xfrm>
          <a:prstGeom prst="roundRect">
            <a:avLst>
              <a:gd name="adj" fmla="val 9282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3024188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Authoring Agent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33400" y="3254573"/>
            <a:ext cx="24612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compliant product descriptions for e-commerce, pharmacy systems, and healthcare portals.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13050" y="2871788"/>
            <a:ext cx="2717750" cy="820936"/>
          </a:xfrm>
          <a:prstGeom prst="roundRect">
            <a:avLst>
              <a:gd name="adj" fmla="val 9282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5450" y="3024188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Pricing Agent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65450" y="3254573"/>
            <a:ext cx="24612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and analyze pricing data from market sources. Support market access and HTA submissions.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45101" y="2871788"/>
            <a:ext cx="2717750" cy="820936"/>
          </a:xfrm>
          <a:prstGeom prst="roundRect">
            <a:avLst>
              <a:gd name="adj" fmla="val 9282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7501" y="3024188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Intelligence Agent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197501" y="3254573"/>
            <a:ext cx="24612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regulatory changes across jurisdictions. Proactive alerts for guideline updates and deadlines.</a:t>
            </a:r>
            <a:endParaRPr lang="en-US" sz="750" dirty="0"/>
          </a:p>
        </p:txBody>
      </p:sp>
      <p:pic>
        <p:nvPicPr>
          <p:cNvPr id="22" name="Image 0" descr="/tmp/rasterized-gradient-2efc4f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787973"/>
            <a:ext cx="8382000" cy="3751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291953" y="3902273"/>
            <a:ext cx="46511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can be customized for your specific therapeutic areas, markets, and regulatory frameworks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HUBS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47897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Regulatory Intelligence Layer</a:t>
            </a:r>
            <a:endParaRPr lang="en-US" sz="2250" dirty="0"/>
          </a:p>
        </p:txBody>
      </p:sp>
      <p:pic>
        <p:nvPicPr>
          <p:cNvPr id="4" name="Image 0" descr="/tmp/rasterized-gradient-dc1a99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69690"/>
            <a:ext cx="3952875" cy="881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1722090"/>
            <a:ext cx="3721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Compliance Hub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3400" y="1984921"/>
            <a:ext cx="3721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FDA CFR, EMA guidelines, MHRA requirements, TGA regulations. Agents query country-specific rules instantly.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81000" y="2546896"/>
            <a:ext cx="3952875" cy="920055"/>
          </a:xfrm>
          <a:prstGeom prst="roundRect">
            <a:avLst>
              <a:gd name="adj" fmla="val 10353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2450" y="2718346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Pricing Hub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2450" y="2981176"/>
            <a:ext cx="36821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Proprietary pricing databases, market access data, HTA outcomes. Secure storage for sensitive commercial intelligence.</a:t>
            </a:r>
            <a:endParaRPr lang="en-US" sz="825" dirty="0"/>
          </a:p>
        </p:txBody>
      </p:sp>
      <p:pic>
        <p:nvPicPr>
          <p:cNvPr id="10" name="Image 1" descr="/tmp/rasterized-gradient-810a19f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62201"/>
            <a:ext cx="3952875" cy="881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3714601"/>
            <a:ext cx="3721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Source Hub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33400" y="3977432"/>
            <a:ext cx="3721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master data, approved claims, reference literature. AI draws from verified sources for compliant content generation.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4467225" y="1922115"/>
            <a:ext cx="4295775" cy="2169765"/>
          </a:xfrm>
          <a:prstGeom prst="roundRect">
            <a:avLst>
              <a:gd name="adj" fmla="val 439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638675" y="2093565"/>
            <a:ext cx="4031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AGENT QUERY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38675" y="2367855"/>
            <a:ext cx="3952875" cy="542925"/>
          </a:xfrm>
          <a:prstGeom prst="roundRect">
            <a:avLst>
              <a:gd name="adj" fmla="val 14035"/>
            </a:avLst>
          </a:prstGeom>
          <a:solidFill>
            <a:srgbClr val="0A939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652963" y="2367855"/>
            <a:ext cx="0" cy="542925"/>
          </a:xfrm>
          <a:prstGeom prst="line">
            <a:avLst/>
          </a:prstGeom>
          <a:noFill/>
          <a:ln w="28575">
            <a:solidFill>
              <a:srgbClr val="2782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81550" y="2482155"/>
            <a:ext cx="37696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i="1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are the labeling requirements for OTC analgesics in Germany vs. UK post-Brexit?"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4638675" y="3025080"/>
            <a:ext cx="40319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queries Country Compliance Hub, retrieves BfArM and MHRA specific requirements, generates comparison matrix with citations.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638675" y="3425130"/>
            <a:ext cx="3952875" cy="495300"/>
          </a:xfrm>
          <a:prstGeom prst="roundRect">
            <a:avLst>
              <a:gd name="adj" fmla="val 15385"/>
            </a:avLst>
          </a:prstGeom>
          <a:solidFill>
            <a:srgbClr val="EE9B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52975" y="3539430"/>
            <a:ext cx="3798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Knowledge ensures answers are grounded in your authoritative sources—not hallucinated.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4750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Transparent, Usage-Based Pricing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342132"/>
            <a:ext cx="2705100" cy="1767780"/>
          </a:xfrm>
          <a:prstGeom prst="roundRect">
            <a:avLst>
              <a:gd name="adj" fmla="val 53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94532"/>
            <a:ext cx="24483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Essential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33400" y="1770757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$2,400</a:t>
            </a:r>
            <a:pPr algn="l" indent="0" marL="0">
              <a:lnSpc>
                <a:spcPts val="252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/year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2205038"/>
            <a:ext cx="2400300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3288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14,400 credits included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3400" y="25574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1-3 users, 1-3 agents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2824163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~200 documents/year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0" y="1323082"/>
            <a:ext cx="2743200" cy="1805880"/>
          </a:xfrm>
          <a:prstGeom prst="roundRect">
            <a:avLst>
              <a:gd name="adj" fmla="val 5274"/>
            </a:avLst>
          </a:prstGeom>
          <a:solidFill>
            <a:srgbClr val="0F172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71850" y="1494532"/>
            <a:ext cx="24483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371850" y="1770757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$8,500</a:t>
            </a:r>
            <a:pPr algn="l" indent="0" marL="0">
              <a:lnSpc>
                <a:spcPts val="252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/year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71850" y="2205038"/>
            <a:ext cx="24003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1850" y="23288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38,250 credits included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71850" y="25574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users, 8 agents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71850" y="2824163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~550 documents/year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57900" y="1342132"/>
            <a:ext cx="2705100" cy="1767780"/>
          </a:xfrm>
          <a:prstGeom prst="roundRect">
            <a:avLst>
              <a:gd name="adj" fmla="val 53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0300" y="1494532"/>
            <a:ext cx="24483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210300" y="1770757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$18,000</a:t>
            </a:r>
            <a:pPr algn="l" indent="0" marL="0">
              <a:lnSpc>
                <a:spcPts val="252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/year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0300" y="2205038"/>
            <a:ext cx="2400300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0300" y="23288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90,000 credits included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10300" y="2557463"/>
            <a:ext cx="24483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users, 15 agents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10300" y="2824163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~1,300 documents/year</a:t>
            </a:r>
            <a:endParaRPr lang="en-US" sz="750" dirty="0"/>
          </a:p>
        </p:txBody>
      </p:sp>
      <p:pic>
        <p:nvPicPr>
          <p:cNvPr id="25" name="Image 0" descr="/tmp/rasterized-gradient-12f380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243263"/>
            <a:ext cx="4114800" cy="100935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3400" y="339566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Comparison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33400" y="3721298"/>
            <a:ext cx="6753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533400" y="3860304"/>
            <a:ext cx="6753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$100</a:t>
            </a:r>
            <a:pPr algn="l" indent="0" marL="0">
              <a:lnSpc>
                <a:spcPts val="189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/leaflet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47936" y="3654623"/>
            <a:ext cx="1302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28031" y="3721298"/>
            <a:ext cx="6802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BYTEBEAM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1628031" y="3860304"/>
            <a:ext cx="6802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~$14</a:t>
            </a:r>
            <a:pPr algn="l" indent="0" marL="0">
              <a:lnSpc>
                <a:spcPts val="1890"/>
              </a:lnSpc>
              <a:buNone/>
            </a:pPr>
            <a:r>
              <a:rPr lang="en-US" sz="750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/leaflet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450134" y="3645098"/>
            <a:ext cx="893266" cy="260896"/>
          </a:xfrm>
          <a:prstGeom prst="roundRect">
            <a:avLst>
              <a:gd name="adj" fmla="val 14604"/>
            </a:avLst>
          </a:prstGeom>
          <a:solidFill>
            <a:srgbClr val="EE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545384" y="3702248"/>
            <a:ext cx="716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86% SAVINGS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610100" y="3308896"/>
            <a:ext cx="4152900" cy="878086"/>
          </a:xfrm>
          <a:prstGeom prst="roundRect">
            <a:avLst>
              <a:gd name="adj" fmla="val 10847"/>
            </a:avLst>
          </a:prstGeom>
          <a:solidFill>
            <a:srgbClr val="F8F9FA"/>
          </a:solidFill>
          <a:ln w="19050">
            <a:solidFill>
              <a:srgbClr val="EE9B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781550" y="3480346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Agents — Coming Soon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4781550" y="3729782"/>
            <a:ext cx="3886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it. We maintain it. We guarantee outcomes. Premium service for teams who want turnkey automation without setup overhead.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81000" y="4366915"/>
            <a:ext cx="8382000" cy="323850"/>
          </a:xfrm>
          <a:prstGeom prst="roundRect">
            <a:avLst>
              <a:gd name="adj" fmla="val 2352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406402" y="4462165"/>
            <a:ext cx="4417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$0.20/credit | Simple field = 1 credit | Advanced field = 2 credits | Pay per field—extractions and actions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66551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Regulatory Chaos to Controlled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2347913"/>
            <a:ext cx="1990725" cy="1337221"/>
          </a:xfrm>
          <a:prstGeom prst="roundRect">
            <a:avLst>
              <a:gd name="adj" fmla="val 712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04913" y="25003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27635" y="255180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65467" y="2938463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6541" y="3246983"/>
            <a:ext cx="17196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document sources, databases, or upload files directly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486025" y="2328863"/>
            <a:ext cx="2028825" cy="1375321"/>
          </a:xfrm>
          <a:prstGeom prst="roundRect">
            <a:avLst>
              <a:gd name="adj" fmla="val 6926"/>
            </a:avLst>
          </a:prstGeom>
          <a:solidFill>
            <a:srgbClr val="F8F9FA"/>
          </a:solidFill>
          <a:ln w="19050">
            <a:solidFill>
              <a:srgbClr val="278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8988" y="25003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1710" y="255180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7324" y="2938463"/>
            <a:ext cx="4060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40616" y="3246983"/>
            <a:ext cx="17196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Knowledge Hubs from guidelines, pricing data, and sources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29150" y="2347913"/>
            <a:ext cx="1990725" cy="1337221"/>
          </a:xfrm>
          <a:prstGeom prst="roundRect">
            <a:avLst>
              <a:gd name="adj" fmla="val 712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53063" y="25003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78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75785" y="255180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66102" y="2938463"/>
            <a:ext cx="7168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691" y="3246983"/>
            <a:ext cx="17196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AI agents for leaflets, gap analysis, and content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34175" y="2328863"/>
            <a:ext cx="2028825" cy="1375321"/>
          </a:xfrm>
          <a:prstGeom prst="roundRect">
            <a:avLst>
              <a:gd name="adj" fmla="val 6926"/>
            </a:avLst>
          </a:prstGeom>
          <a:solidFill>
            <a:srgbClr val="F8F9FA"/>
          </a:solidFill>
          <a:ln w="19050">
            <a:solidFill>
              <a:srgbClr val="EE9B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77138" y="25003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E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99860" y="255180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89305" y="2938463"/>
            <a:ext cx="5185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88766" y="3246983"/>
            <a:ext cx="17196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your systems via API or download audit-ready outputs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78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RESULTS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432346"/>
            <a:ext cx="57029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Trade Compliance Transformation</a:t>
            </a:r>
            <a:endParaRPr lang="en-US" sz="2250" dirty="0"/>
          </a:p>
        </p:txBody>
      </p:sp>
      <p:pic>
        <p:nvPicPr>
          <p:cNvPr id="4" name="Image 0" descr="/tmp/rasterized-gradient-3fb54b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22896"/>
            <a:ext cx="8382000" cy="11276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6768" y="1213396"/>
            <a:ext cx="71818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2366768" y="1693366"/>
            <a:ext cx="718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Time</a:t>
            </a:r>
            <a:endParaRPr lang="en-US" sz="7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344614" y="1348532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13269" y="1213396"/>
            <a:ext cx="77223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613269" y="1693366"/>
            <a:ext cx="772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Translation</a:t>
            </a:r>
            <a:endParaRPr lang="en-US" sz="7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644628" y="1348532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15980" y="1213396"/>
            <a:ext cx="49700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915980" y="1693366"/>
            <a:ext cx="4970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</a:t>
            </a:r>
            <a:endParaRPr lang="en-US" sz="7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74816" y="1348532"/>
            <a:ext cx="9525" cy="4762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42850" y="1213396"/>
            <a:ext cx="83553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7-Fig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5942850" y="1693366"/>
            <a:ext cx="835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</a:t>
            </a:r>
            <a:endParaRPr lang="en-US" sz="7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81000" y="2264866"/>
            <a:ext cx="4133850" cy="2236738"/>
          </a:xfrm>
          <a:prstGeom prst="roundRect">
            <a:avLst>
              <a:gd name="adj" fmla="val 42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0050" y="2264866"/>
            <a:ext cx="0" cy="2236738"/>
          </a:xfrm>
          <a:prstGeom prst="line">
            <a:avLst/>
          </a:prstGeom>
          <a:noFill/>
          <a:ln w="38100">
            <a:solidFill>
              <a:srgbClr val="2782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299754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71500" y="3266033"/>
            <a:ext cx="3866769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Paper-based workflows for localized trade compliance across multiple markets. Manual classification, translation, and policy checks creating bottlenecks and errors.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29150" y="2264866"/>
            <a:ext cx="4133850" cy="2236738"/>
          </a:xfrm>
          <a:prstGeom prst="roundRect">
            <a:avLst>
              <a:gd name="adj" fmla="val 42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48200" y="2264866"/>
            <a:ext cx="0" cy="2236738"/>
          </a:xfrm>
          <a:prstGeom prst="line">
            <a:avLst/>
          </a:prstGeom>
          <a:noFill/>
          <a:ln w="38100">
            <a:solidFill>
              <a:srgbClr val="EE9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9650" y="299754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819650" y="3266033"/>
            <a:ext cx="3866769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platform combining OCR, language detection, and LLM-powered policy engines. Auto-classification, multilingual translation, exception routing, and audit logging.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81000" y="4615904"/>
            <a:ext cx="8382000" cy="375196"/>
          </a:xfrm>
          <a:prstGeom prst="roundRect">
            <a:avLst>
              <a:gd name="adj" fmla="val 2030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110383" y="4730204"/>
            <a:ext cx="50216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for SLA tracking | Full audit trails | Replaced manual workflows with intelligent automation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0079" y="1221135"/>
            <a:ext cx="37636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E9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YOUR REGULATORY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49996" y="1495425"/>
            <a:ext cx="464400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Your AI-Powered Regulatory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78684" y="2615505"/>
            <a:ext cx="2586633" cy="466725"/>
          </a:xfrm>
          <a:prstGeom prst="roundRect">
            <a:avLst>
              <a:gd name="adj" fmla="val 16327"/>
            </a:avLst>
          </a:prstGeom>
          <a:solidFill>
            <a:srgbClr val="EE9B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63713" y="2748855"/>
            <a:ext cx="2016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Regulatory Demo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238181" y="3234630"/>
            <a:ext cx="667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bytebeam.co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34007" y="3775621"/>
            <a:ext cx="1419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Pharma-specific pilot program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34042" y="3775621"/>
            <a:ext cx="10734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GxP validation support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489787" y="3775621"/>
            <a:ext cx="12180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RA onboarding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Bytebeam - AI Agent Platform</dc:title>
  <dc:subject>Pharma Regulatory Affairs</dc:subject>
  <dc:creator>Bytebeam</dc:creator>
  <cp:lastModifiedBy>Bytebeam</cp:lastModifiedBy>
  <cp:revision>1</cp:revision>
  <dcterms:created xsi:type="dcterms:W3CDTF">2026-01-14T17:45:28Z</dcterms:created>
  <dcterms:modified xsi:type="dcterms:W3CDTF">2026-01-14T17:45:28Z</dcterms:modified>
</cp:coreProperties>
</file>